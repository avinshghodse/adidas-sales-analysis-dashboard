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webextensions/webextension1.xml" ContentType="application/vnd.ms-office.webextension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  <p:sldId id="257" r:id="rId6"/>
  </p:sldIdLst>
  <p:sldSz cx="12192000" cy="6858000"/>
  <p:notesSz cx="6858000" cy="9144000"/>
  <p:custDataLst>
    <p:tags r:id="rId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51"/>
    <p:restoredTop sz="94647"/>
  </p:normalViewPr>
  <p:slideViewPr>
    <p:cSldViewPr snapToGrid="0" snapToObjects="1">
      <p:cViewPr varScale="1">
        <p:scale>
          <a:sx n="81" d="100"/>
          <a:sy n="81" d="100"/>
        </p:scale>
        <p:origin x="8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tags" Target="tags/tag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4106F-A246-2E48-9544-E8146AB80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229C53-2CA9-764A-93AB-ECAD546B0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C782C-8745-7347-B6AC-4D8772289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4/21/2023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CFD0D-118D-4441-A91C-1B836A28A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B8388-0632-6942-96AC-2D619404E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746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FEA2F-4473-0948-AB43-EBE335118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8B151-747D-604F-903D-9A920F317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47E0C-8A67-AE45-9E33-B90E65F82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4/21/2023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C27D1-B1FA-884E-BB86-6AA912AD2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0875C-8A74-6B43-8AF6-63659F8EC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32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73F97-6513-314A-BEB3-8AC3A43CE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C1008-6364-A640-BA0B-D8775884B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AB27E-7D19-9148-AFBE-D10DF7C15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4/21/2023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7AB2F-DBDD-3343-AB56-539EF251B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2543B-D933-004D-99FF-224DE8B97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993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E5657-C487-1D4B-9C65-4DD0F323D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F2E6E-20E6-9043-A03F-A481416CA8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B42E3-D2BE-6F4D-92FC-1494FD65C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A5245B-18BD-FF4F-92B6-242006FB8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4/21/2023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81255-874F-754B-A47E-861DA0CD1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E19D76-7CF9-AC46-8DF1-89FFCD7B2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621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3E17C-5F89-8D43-BA72-7627FFCB1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69009-5908-0446-A2D3-27CA7612D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A4F87B-6AD1-4F41-B65A-1712AF5CC5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9BD845-9E91-C744-AC94-1F3B0763A6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5476AE-7625-BD41-9CA9-51364370D3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E53358-AC69-5B4B-A141-FBCF7AC85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4/21/2023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FCEA71-D074-9149-9053-65C6E547F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C57ED6-3E53-184B-96E1-A81C0B366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476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7104-1EED-AC46-9BFE-74C4C8973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CA8C08-9E8C-6741-A2F0-5FAB6AE5E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4/21/2023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D7E1B8-2D7B-4548-B1EC-8C766C92D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E0B748-F1C5-8749-8C42-DAC929DFF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546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FE7249-F53D-4B4D-A448-22699C3D2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4/21/2023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682F3B-F381-C642-956B-8B897A4E6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99A17-3A94-2D4B-863A-D140FD43E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842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E8CEF-1C51-8C45-A4DD-823EF2ED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374CA-1122-FA4B-B960-C80ADBD8C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A1D2F-31D9-944B-9E05-A6DF632D8B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8C1F2-E75A-7847-BE97-4BAFD26A3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4/21/2023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89FF9-DBBA-CD42-95A8-C1446B010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18F56-7D9A-9D48-8FD1-C96B13CCA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74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687D9-2240-8D42-BF6D-3237D5EF1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33825A-5AFC-8A42-93C4-F00E40A0FD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956E5-5DA8-AB49-9E03-65283DF2A3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8163D5-4687-C243-A8A2-0650A7887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4/21/2023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00BF0-29B6-B343-A484-59353A8AC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8E5C9-1065-5147-B725-91FB99153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017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9CC8-54DA-0A42-9DA3-C9E7FB11F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1DD596-2259-614F-A986-3F25CF600F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5B1C8-F927-B147-8326-E3862924A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4/21/2023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B53A9-157A-9941-B952-607DAB5FA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F697C-66DE-734A-9CA9-579BCEA17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88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FAABD5-DA08-A547-B641-D0E0889172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B8267B-68DB-BD49-A9B4-434AE7BB23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2D5EC-A445-FF43-82E6-1E7554A5D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4/21/2023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6C67B-5186-6A4F-8CC0-6CBFEB118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F1686-2B7E-F34D-B970-CC7FA2D3B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61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B6787-B51F-DB42-9E52-63E10EB86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B9472-27F5-2144-BCEC-3E0A96761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52788-8A6E-D24F-82D2-F38C9E41A4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2730A-859E-B540-ADF3-E97069AD1FDB}" type="datetimeFigureOut">
              <a:rPr lang="en-US" smtClean="0"/>
              <a:t>4/21/2023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DDB45-653D-0C49-B78E-967549C7BA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DC715-0B9A-0348-A62C-3F8BCE535B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849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1/relationships/webextension" Target="../webextensions/webextension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dd-in_Banner">
            <a:extLst>
              <a:ext uri="{FF2B5EF4-FFF2-40B4-BE49-F238E27FC236}">
                <a16:creationId xmlns:a16="http://schemas.microsoft.com/office/drawing/2014/main" id="{3469E413-BCF5-4E2F-BE4B-EB617C589F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1012" y="365245"/>
            <a:ext cx="10749976" cy="612815"/>
          </a:xfrm>
          <a:prstGeom prst="rect">
            <a:avLst/>
          </a:prstGeom>
          <a:solidFill>
            <a:srgbClr val="494748">
              <a:alpha val="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32000" tIns="180000" rIns="216000" bIns="18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spcAft>
                <a:spcPts val="0"/>
              </a:spcAft>
            </a:pPr>
            <a:r>
              <a:rPr lang="en-GB" sz="1800" b="1" dirty="0">
                <a:solidFill>
                  <a:srgbClr val="000000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Light" panose="020B0502040204020203" pitchFamily="34" charset="0"/>
              </a:rPr>
              <a:t>   Adidas Sales Data Analysis Report</a:t>
            </a:r>
            <a:endParaRPr lang="en-IE" sz="1200" b="1" dirty="0">
              <a:effectLst/>
              <a:latin typeface="Segoe UI Black" panose="020B0A02040204020203" pitchFamily="34" charset="0"/>
              <a:ea typeface="Segoe UI Black" panose="020B0A02040204020203" pitchFamily="34" charset="0"/>
              <a:cs typeface="Segoe UI Light" panose="020B0502040204020203" pitchFamily="34" charset="0"/>
            </a:endParaRPr>
          </a:p>
        </p:txBody>
      </p:sp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" descr="Add-in content for Microsoft Power BI.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99824802"/>
                  </p:ext>
                </p:extLst>
              </p:nvPr>
            </p:nvGraphicFramePr>
            <p:xfrm>
              <a:off x="721012" y="978060"/>
              <a:ext cx="10749976" cy="5722285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2" name="Add-in" descr="Add-in content for Microsoft Power BI."/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21012" y="978060"/>
                <a:ext cx="10749976" cy="5722285"/>
              </a:xfrm>
              <a:prstGeom prst="rect">
                <a:avLst/>
              </a:prstGeom>
            </p:spPr>
          </p:pic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081C0ECF-1B3C-291C-13C9-EF2AE386E2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011" y="365245"/>
            <a:ext cx="682119" cy="612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1859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B864B3B-A969-948F-D8D7-9A101DDF6A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7655" y="173421"/>
            <a:ext cx="5833242" cy="612815"/>
          </a:xfrm>
        </p:spPr>
        <p:txBody>
          <a:bodyPr>
            <a:normAutofit/>
          </a:bodyPr>
          <a:lstStyle/>
          <a:p>
            <a:r>
              <a:rPr lang="en-GB" sz="2000" b="1" dirty="0">
                <a:solidFill>
                  <a:srgbClr val="000000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Light" panose="020B0502040204020203" pitchFamily="34" charset="0"/>
              </a:rPr>
              <a:t>Adidas Sales Data Analysis Report</a:t>
            </a:r>
            <a:endParaRPr lang="en-US" sz="20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69A7C48-2FF7-D301-0DD8-C8C9A8DF17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655" y="173421"/>
            <a:ext cx="682119" cy="61281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601DD88-D10E-1725-4B4F-2BFF404EB383}"/>
              </a:ext>
            </a:extLst>
          </p:cNvPr>
          <p:cNvSpPr txBox="1"/>
          <p:nvPr/>
        </p:nvSpPr>
        <p:spPr>
          <a:xfrm flipH="1">
            <a:off x="839773" y="1450428"/>
            <a:ext cx="1074788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b="0" i="0" dirty="0">
                <a:solidFill>
                  <a:schemeClr val="accent1">
                    <a:lumMod val="50000"/>
                  </a:schemeClr>
                </a:solidFill>
                <a:effectLst/>
                <a:latin typeface="Bahnschrift Light" panose="020B0502040204020203" pitchFamily="34" charset="0"/>
              </a:rPr>
              <a:t>Adidas sales in 2020-2021</a:t>
            </a:r>
            <a:r>
              <a:rPr lang="en-US" sz="1200" b="1" i="0" dirty="0">
                <a:solidFill>
                  <a:schemeClr val="accent1">
                    <a:lumMod val="50000"/>
                  </a:schemeClr>
                </a:solidFill>
                <a:effectLst/>
                <a:latin typeface="Bahnschrift Light" panose="020B0502040204020203" pitchFamily="34" charset="0"/>
              </a:rPr>
              <a:t> = $ 899.99M</a:t>
            </a:r>
            <a:endParaRPr lang="en-US" sz="1200" b="0" i="0" dirty="0">
              <a:solidFill>
                <a:schemeClr val="accent1">
                  <a:lumMod val="50000"/>
                </a:schemeClr>
              </a:solidFill>
              <a:effectLst/>
              <a:latin typeface="Bahnschrift Light" panose="020B0502040204020203" pitchFamily="34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200" b="1" i="0" dirty="0">
                <a:solidFill>
                  <a:schemeClr val="accent1">
                    <a:lumMod val="50000"/>
                  </a:schemeClr>
                </a:solidFill>
                <a:effectLst/>
                <a:latin typeface="Bahnschrift Light" panose="020B0502040204020203" pitchFamily="34" charset="0"/>
              </a:rPr>
              <a:t>2020 Sale - 182.08M</a:t>
            </a:r>
            <a:endParaRPr lang="en-US" sz="1200" b="0" i="0" dirty="0">
              <a:solidFill>
                <a:schemeClr val="accent1">
                  <a:lumMod val="50000"/>
                </a:schemeClr>
              </a:solidFill>
              <a:effectLst/>
              <a:latin typeface="Bahnschrift Light" panose="020B0502040204020203" pitchFamily="34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200" b="1" i="0" dirty="0">
                <a:solidFill>
                  <a:schemeClr val="accent1">
                    <a:lumMod val="50000"/>
                  </a:schemeClr>
                </a:solidFill>
                <a:effectLst/>
                <a:latin typeface="Bahnschrift Light" panose="020B0502040204020203" pitchFamily="34" charset="0"/>
              </a:rPr>
              <a:t>2021 Sale - 717.82M</a:t>
            </a:r>
            <a:endParaRPr lang="en-US" sz="1200" b="0" i="0" dirty="0">
              <a:solidFill>
                <a:schemeClr val="accent1">
                  <a:lumMod val="50000"/>
                </a:schemeClr>
              </a:solidFill>
              <a:effectLst/>
              <a:latin typeface="Bahnschrift Light" panose="020B0502040204020203" pitchFamily="34" charset="0"/>
            </a:endParaRPr>
          </a:p>
          <a:p>
            <a:pPr algn="l"/>
            <a:r>
              <a:rPr lang="en-US" sz="1200" b="0" i="0" dirty="0">
                <a:solidFill>
                  <a:schemeClr val="accent1">
                    <a:lumMod val="50000"/>
                  </a:schemeClr>
                </a:solidFill>
                <a:effectLst/>
                <a:latin typeface="Bahnschrift Light" panose="020B0502040204020203" pitchFamily="34" charset="0"/>
              </a:rPr>
              <a:t>Overall Profit </a:t>
            </a:r>
            <a:r>
              <a:rPr lang="en-US" sz="1200" b="1" i="0" dirty="0">
                <a:solidFill>
                  <a:schemeClr val="accent1">
                    <a:lumMod val="50000"/>
                  </a:schemeClr>
                </a:solidFill>
                <a:effectLst/>
                <a:latin typeface="Bahnschrift Light" panose="020B0502040204020203" pitchFamily="34" charset="0"/>
              </a:rPr>
              <a:t>= $ 332.13M</a:t>
            </a:r>
            <a:endParaRPr lang="en-US" sz="1200" b="0" i="0" dirty="0">
              <a:solidFill>
                <a:schemeClr val="accent1">
                  <a:lumMod val="50000"/>
                </a:schemeClr>
              </a:solidFill>
              <a:effectLst/>
              <a:latin typeface="Bahnschrift Light" panose="020B0502040204020203" pitchFamily="34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200" b="1" i="0" dirty="0">
                <a:solidFill>
                  <a:schemeClr val="accent1">
                    <a:lumMod val="50000"/>
                  </a:schemeClr>
                </a:solidFill>
                <a:effectLst/>
                <a:latin typeface="Bahnschrift Light" panose="020B0502040204020203" pitchFamily="34" charset="0"/>
              </a:rPr>
              <a:t>2020 Profit - $63.38M</a:t>
            </a:r>
            <a:endParaRPr lang="en-US" sz="1200" b="0" i="0" dirty="0">
              <a:solidFill>
                <a:schemeClr val="accent1">
                  <a:lumMod val="50000"/>
                </a:schemeClr>
              </a:solidFill>
              <a:effectLst/>
              <a:latin typeface="Bahnschrift Light" panose="020B0502040204020203" pitchFamily="34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200" b="1" i="0" dirty="0">
                <a:solidFill>
                  <a:schemeClr val="accent1">
                    <a:lumMod val="50000"/>
                  </a:schemeClr>
                </a:solidFill>
                <a:effectLst/>
                <a:latin typeface="Bahnschrift Light" panose="020B0502040204020203" pitchFamily="34" charset="0"/>
              </a:rPr>
              <a:t>2021 Profit - 268.76M</a:t>
            </a:r>
            <a:endParaRPr lang="en-US" sz="1200" b="0" i="0" dirty="0">
              <a:solidFill>
                <a:schemeClr val="accent1">
                  <a:lumMod val="50000"/>
                </a:schemeClr>
              </a:solidFill>
              <a:effectLst/>
              <a:latin typeface="Bahnschrift Light" panose="020B0502040204020203" pitchFamily="34" charset="0"/>
            </a:endParaRPr>
          </a:p>
          <a:p>
            <a:pPr algn="l"/>
            <a:r>
              <a:rPr lang="en-US" sz="1200" b="0" i="0" dirty="0">
                <a:solidFill>
                  <a:schemeClr val="accent1">
                    <a:lumMod val="50000"/>
                  </a:schemeClr>
                </a:solidFill>
                <a:effectLst/>
                <a:latin typeface="Bahnschrift Light" panose="020B0502040204020203" pitchFamily="34" charset="0"/>
              </a:rPr>
              <a:t>Profit Margin 2020</a:t>
            </a:r>
            <a:r>
              <a:rPr lang="en-US" sz="1200" b="1" i="0" dirty="0">
                <a:solidFill>
                  <a:schemeClr val="accent1">
                    <a:lumMod val="50000"/>
                  </a:schemeClr>
                </a:solidFill>
                <a:effectLst/>
                <a:latin typeface="Bahnschrift Light" panose="020B0502040204020203" pitchFamily="34" charset="0"/>
              </a:rPr>
              <a:t> - 34.81%</a:t>
            </a:r>
            <a:endParaRPr lang="en-US" sz="1200" b="0" i="0" dirty="0">
              <a:solidFill>
                <a:schemeClr val="accent1">
                  <a:lumMod val="50000"/>
                </a:schemeClr>
              </a:solidFill>
              <a:effectLst/>
              <a:latin typeface="Bahnschrift Light" panose="020B0502040204020203" pitchFamily="34" charset="0"/>
            </a:endParaRPr>
          </a:p>
          <a:p>
            <a:pPr algn="l"/>
            <a:r>
              <a:rPr lang="en-US" sz="1200" b="0" i="0" dirty="0">
                <a:solidFill>
                  <a:schemeClr val="accent1">
                    <a:lumMod val="50000"/>
                  </a:schemeClr>
                </a:solidFill>
                <a:effectLst/>
                <a:latin typeface="Bahnschrift Light" panose="020B0502040204020203" pitchFamily="34" charset="0"/>
              </a:rPr>
              <a:t>Profit Margin 2020</a:t>
            </a:r>
            <a:r>
              <a:rPr lang="en-US" sz="1200" b="1" i="0" dirty="0">
                <a:solidFill>
                  <a:schemeClr val="accent1">
                    <a:lumMod val="50000"/>
                  </a:schemeClr>
                </a:solidFill>
                <a:effectLst/>
                <a:latin typeface="Bahnschrift Light" panose="020B0502040204020203" pitchFamily="34" charset="0"/>
              </a:rPr>
              <a:t> - 37.44%</a:t>
            </a:r>
            <a:br>
              <a:rPr lang="en-US" sz="1200" b="0" i="0" dirty="0">
                <a:solidFill>
                  <a:schemeClr val="accent1">
                    <a:lumMod val="50000"/>
                  </a:schemeClr>
                </a:solidFill>
                <a:effectLst/>
                <a:latin typeface="Bahnschrift Light" panose="020B0502040204020203" pitchFamily="34" charset="0"/>
              </a:rPr>
            </a:br>
            <a:endParaRPr lang="en-US" sz="1200" b="0" i="0" dirty="0">
              <a:solidFill>
                <a:schemeClr val="accent1">
                  <a:lumMod val="50000"/>
                </a:schemeClr>
              </a:solidFill>
              <a:effectLst/>
              <a:latin typeface="Bahnschrift Light" panose="020B0502040204020203" pitchFamily="34" charset="0"/>
            </a:endParaRPr>
          </a:p>
          <a:p>
            <a:pPr algn="l"/>
            <a:r>
              <a:rPr lang="en-US" sz="1200" b="0" i="0" dirty="0">
                <a:solidFill>
                  <a:schemeClr val="accent1">
                    <a:lumMod val="50000"/>
                  </a:schemeClr>
                </a:solidFill>
                <a:effectLst/>
                <a:latin typeface="Bahnschrift Light" panose="020B0502040204020203" pitchFamily="34" charset="0"/>
              </a:rPr>
              <a:t>Total Unit Sold</a:t>
            </a:r>
            <a:r>
              <a:rPr lang="en-US" sz="1200" b="1" i="0" dirty="0">
                <a:solidFill>
                  <a:schemeClr val="accent1">
                    <a:lumMod val="50000"/>
                  </a:schemeClr>
                </a:solidFill>
                <a:effectLst/>
                <a:latin typeface="Bahnschrift Light" panose="020B0502040204020203" pitchFamily="34" charset="0"/>
              </a:rPr>
              <a:t> - 2478861</a:t>
            </a:r>
            <a:endParaRPr lang="en-US" sz="1200" b="0" i="0" dirty="0">
              <a:solidFill>
                <a:schemeClr val="accent1">
                  <a:lumMod val="50000"/>
                </a:schemeClr>
              </a:solidFill>
              <a:effectLst/>
              <a:latin typeface="Bahnschrift Light" panose="020B0502040204020203" pitchFamily="34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200" b="1" i="0" dirty="0">
                <a:solidFill>
                  <a:schemeClr val="accent1">
                    <a:lumMod val="50000"/>
                  </a:schemeClr>
                </a:solidFill>
                <a:effectLst/>
                <a:latin typeface="Bahnschrift Light" panose="020B0502040204020203" pitchFamily="34" charset="0"/>
              </a:rPr>
              <a:t> 2020 - 462349</a:t>
            </a:r>
            <a:endParaRPr lang="en-US" sz="1200" b="0" i="0" dirty="0">
              <a:solidFill>
                <a:schemeClr val="accent1">
                  <a:lumMod val="50000"/>
                </a:schemeClr>
              </a:solidFill>
              <a:effectLst/>
              <a:latin typeface="Bahnschrift Light" panose="020B0502040204020203" pitchFamily="34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200" b="1" i="0" dirty="0">
                <a:solidFill>
                  <a:schemeClr val="accent1">
                    <a:lumMod val="50000"/>
                  </a:schemeClr>
                </a:solidFill>
                <a:effectLst/>
                <a:latin typeface="Bahnschrift Light" panose="020B0502040204020203" pitchFamily="34" charset="0"/>
              </a:rPr>
              <a:t> 2021 - 2016512</a:t>
            </a:r>
            <a:endParaRPr lang="en-US" sz="1200" b="0" i="0" dirty="0">
              <a:solidFill>
                <a:schemeClr val="accent1">
                  <a:lumMod val="50000"/>
                </a:schemeClr>
              </a:solidFill>
              <a:effectLst/>
              <a:latin typeface="Bahnschrift Light" panose="020B0502040204020203" pitchFamily="34" charset="0"/>
            </a:endParaRPr>
          </a:p>
          <a:p>
            <a:pPr algn="l"/>
            <a:r>
              <a:rPr lang="en-US" sz="1200" b="0" i="0" dirty="0">
                <a:solidFill>
                  <a:schemeClr val="accent1">
                    <a:lumMod val="50000"/>
                  </a:schemeClr>
                </a:solidFill>
                <a:effectLst/>
                <a:latin typeface="Bahnschrift Light" panose="020B0502040204020203" pitchFamily="34" charset="0"/>
              </a:rPr>
              <a:t>Highest Sales by West Region</a:t>
            </a:r>
            <a:r>
              <a:rPr lang="en-US" sz="1200" b="1" i="0" dirty="0">
                <a:solidFill>
                  <a:schemeClr val="accent1">
                    <a:lumMod val="50000"/>
                  </a:schemeClr>
                </a:solidFill>
                <a:effectLst/>
                <a:latin typeface="Bahnschrift Light" panose="020B0502040204020203" pitchFamily="34" charset="0"/>
              </a:rPr>
              <a:t> -- 269.94M which is 30% of total sales</a:t>
            </a:r>
            <a:endParaRPr lang="en-US" sz="1200" b="0" i="0" dirty="0">
              <a:solidFill>
                <a:schemeClr val="accent1">
                  <a:lumMod val="50000"/>
                </a:schemeClr>
              </a:solidFill>
              <a:effectLst/>
              <a:latin typeface="Bahnschrift Light" panose="020B0502040204020203" pitchFamily="34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200" b="1" i="0" dirty="0">
                <a:solidFill>
                  <a:schemeClr val="accent1">
                    <a:lumMod val="50000"/>
                  </a:schemeClr>
                </a:solidFill>
                <a:effectLst/>
                <a:latin typeface="Bahnschrift Light" panose="020B0502040204020203" pitchFamily="34" charset="0"/>
              </a:rPr>
              <a:t>2020 - 76.9M - 42.23%</a:t>
            </a:r>
            <a:endParaRPr lang="en-US" sz="1200" b="0" i="0" dirty="0">
              <a:solidFill>
                <a:schemeClr val="accent1">
                  <a:lumMod val="50000"/>
                </a:schemeClr>
              </a:solidFill>
              <a:effectLst/>
              <a:latin typeface="Bahnschrift Light" panose="020B0502040204020203" pitchFamily="34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200" b="1" i="0" dirty="0">
                <a:solidFill>
                  <a:schemeClr val="accent1">
                    <a:lumMod val="50000"/>
                  </a:schemeClr>
                </a:solidFill>
                <a:effectLst/>
                <a:latin typeface="Bahnschrift Light" panose="020B0502040204020203" pitchFamily="34" charset="0"/>
              </a:rPr>
              <a:t>2021 - 193.05M - 26.89%</a:t>
            </a:r>
            <a:endParaRPr lang="en-US" sz="1200" b="0" i="0" dirty="0">
              <a:solidFill>
                <a:schemeClr val="accent1">
                  <a:lumMod val="50000"/>
                </a:schemeClr>
              </a:solidFill>
              <a:effectLst/>
              <a:latin typeface="Bahnschrift Light" panose="020B0502040204020203" pitchFamily="34" charset="0"/>
            </a:endParaRPr>
          </a:p>
          <a:p>
            <a:pPr algn="l"/>
            <a:r>
              <a:rPr lang="en-US" sz="1200" b="0" i="0" dirty="0">
                <a:solidFill>
                  <a:schemeClr val="accent1">
                    <a:lumMod val="50000"/>
                  </a:schemeClr>
                </a:solidFill>
                <a:effectLst/>
                <a:latin typeface="Bahnschrift Light" panose="020B0502040204020203" pitchFamily="34" charset="0"/>
              </a:rPr>
              <a:t>Highest Revenue by West region</a:t>
            </a:r>
            <a:r>
              <a:rPr lang="en-US" sz="1200" b="1" i="0" dirty="0">
                <a:solidFill>
                  <a:schemeClr val="accent1">
                    <a:lumMod val="50000"/>
                  </a:schemeClr>
                </a:solidFill>
                <a:effectLst/>
                <a:latin typeface="Bahnschrift Light" panose="020B0502040204020203" pitchFamily="34" charset="0"/>
              </a:rPr>
              <a:t> --&gt; 36.44M which is 30.32% of total Revenue</a:t>
            </a:r>
            <a:endParaRPr lang="en-US" sz="1200" b="0" i="0" dirty="0">
              <a:solidFill>
                <a:schemeClr val="accent1">
                  <a:lumMod val="50000"/>
                </a:schemeClr>
              </a:solidFill>
              <a:effectLst/>
              <a:latin typeface="Bahnschrift Light" panose="020B0502040204020203" pitchFamily="34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200" b="1" i="0" dirty="0">
                <a:solidFill>
                  <a:schemeClr val="accent1">
                    <a:lumMod val="50000"/>
                  </a:schemeClr>
                </a:solidFill>
                <a:effectLst/>
                <a:latin typeface="Bahnschrift Light" panose="020B0502040204020203" pitchFamily="34" charset="0"/>
              </a:rPr>
              <a:t>2020 - $ 10.02M </a:t>
            </a:r>
            <a:endParaRPr lang="en-US" sz="1200" b="0" i="0" dirty="0">
              <a:solidFill>
                <a:schemeClr val="accent1">
                  <a:lumMod val="50000"/>
                </a:schemeClr>
              </a:solidFill>
              <a:effectLst/>
              <a:latin typeface="Bahnschrift Light" panose="020B0502040204020203" pitchFamily="34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200" b="1" i="0" dirty="0">
                <a:solidFill>
                  <a:schemeClr val="accent1">
                    <a:lumMod val="50000"/>
                  </a:schemeClr>
                </a:solidFill>
                <a:effectLst/>
                <a:latin typeface="Bahnschrift Light" panose="020B0502040204020203" pitchFamily="34" charset="0"/>
              </a:rPr>
              <a:t>2021 - $ 26.42M </a:t>
            </a:r>
            <a:endParaRPr lang="en-US" sz="1200" b="0" i="0" dirty="0">
              <a:solidFill>
                <a:schemeClr val="accent1">
                  <a:lumMod val="50000"/>
                </a:schemeClr>
              </a:solidFill>
              <a:effectLst/>
              <a:latin typeface="Bahnschrift Light" panose="020B0502040204020203" pitchFamily="34" charset="0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200" b="0" i="0" dirty="0">
                <a:solidFill>
                  <a:schemeClr val="accent1">
                    <a:lumMod val="50000"/>
                  </a:schemeClr>
                </a:solidFill>
                <a:effectLst/>
                <a:latin typeface="Bahnschrift Light" panose="020B0502040204020203" pitchFamily="34" charset="0"/>
              </a:rPr>
              <a:t>Top Product sold</a:t>
            </a:r>
            <a:r>
              <a:rPr lang="en-US" sz="1200" b="1" i="0" dirty="0">
                <a:solidFill>
                  <a:schemeClr val="accent1">
                    <a:lumMod val="50000"/>
                  </a:schemeClr>
                </a:solidFill>
                <a:effectLst/>
                <a:latin typeface="Bahnschrift Light" panose="020B0502040204020203" pitchFamily="34" charset="0"/>
              </a:rPr>
              <a:t> - Mens Street Footwear - $208.83M which is 23.21%</a:t>
            </a:r>
            <a:endParaRPr lang="en-US" sz="1200" b="0" i="0" dirty="0">
              <a:solidFill>
                <a:schemeClr val="accent1">
                  <a:lumMod val="50000"/>
                </a:schemeClr>
              </a:solidFill>
              <a:effectLst/>
              <a:latin typeface="Bahnschrift Light" panose="020B0502040204020203" pitchFamily="34" charset="0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200" b="0" i="0" dirty="0">
                <a:solidFill>
                  <a:schemeClr val="accent1">
                    <a:lumMod val="50000"/>
                  </a:schemeClr>
                </a:solidFill>
                <a:effectLst/>
                <a:latin typeface="Bahnschrift Light" panose="020B0502040204020203" pitchFamily="34" charset="0"/>
              </a:rPr>
              <a:t>Min Product sold</a:t>
            </a:r>
            <a:r>
              <a:rPr lang="en-US" sz="1200" b="1" i="0" dirty="0">
                <a:solidFill>
                  <a:schemeClr val="accent1">
                    <a:lumMod val="50000"/>
                  </a:schemeClr>
                </a:solidFill>
                <a:effectLst/>
                <a:latin typeface="Bahnschrift Light" panose="020B0502040204020203" pitchFamily="34" charset="0"/>
              </a:rPr>
              <a:t> - Women's Athletic Footwear - $106.63M which is 11.85%</a:t>
            </a:r>
            <a:endParaRPr lang="en-US" sz="1200" b="0" i="0" dirty="0">
              <a:solidFill>
                <a:schemeClr val="accent1">
                  <a:lumMod val="50000"/>
                </a:schemeClr>
              </a:solidFill>
              <a:effectLst/>
              <a:latin typeface="Bahnschrift Light" panose="020B0502040204020203" pitchFamily="34" charset="0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200" b="0" i="0" dirty="0">
                <a:solidFill>
                  <a:schemeClr val="accent1">
                    <a:lumMod val="50000"/>
                  </a:schemeClr>
                </a:solidFill>
                <a:effectLst/>
                <a:latin typeface="Bahnschrift Light" panose="020B0502040204020203" pitchFamily="34" charset="0"/>
              </a:rPr>
              <a:t>Top Retailer by Sale</a:t>
            </a:r>
            <a:r>
              <a:rPr lang="en-US" sz="1200" b="1" i="0" dirty="0">
                <a:solidFill>
                  <a:schemeClr val="accent1">
                    <a:lumMod val="50000"/>
                  </a:schemeClr>
                </a:solidFill>
                <a:effectLst/>
                <a:latin typeface="Bahnschrift Light" panose="020B0502040204020203" pitchFamily="34" charset="0"/>
              </a:rPr>
              <a:t> - $242.96M which is 27% of the overall sale</a:t>
            </a:r>
            <a:endParaRPr lang="en-US" sz="1200" b="0" i="0" dirty="0">
              <a:solidFill>
                <a:schemeClr val="accent1">
                  <a:lumMod val="50000"/>
                </a:schemeClr>
              </a:solidFill>
              <a:effectLst/>
              <a:latin typeface="Bahnschrift Light" panose="020B050204020402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58F7268-99F0-1183-F5E4-96531EFF62F4}"/>
              </a:ext>
            </a:extLst>
          </p:cNvPr>
          <p:cNvSpPr txBox="1"/>
          <p:nvPr/>
        </p:nvSpPr>
        <p:spPr>
          <a:xfrm>
            <a:off x="839773" y="883257"/>
            <a:ext cx="26838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Sales Insights: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B0E5E90-4C6E-4E49-C10C-F82E3789D5EB}"/>
              </a:ext>
            </a:extLst>
          </p:cNvPr>
          <p:cNvSpPr txBox="1"/>
          <p:nvPr/>
        </p:nvSpPr>
        <p:spPr>
          <a:xfrm flipH="1">
            <a:off x="9624847" y="6302844"/>
            <a:ext cx="19628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Avinash Ghodse.</a:t>
            </a:r>
          </a:p>
        </p:txBody>
      </p:sp>
    </p:spTree>
    <p:extLst>
      <p:ext uri="{BB962C8B-B14F-4D97-AF65-F5344CB8AC3E}">
        <p14:creationId xmlns:p14="http://schemas.microsoft.com/office/powerpoint/2010/main" val="228275944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LE_NAME_PARSED_KEY" val="TRU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webextension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webextensions/webextension1.xml><?xml version="1.0" encoding="utf-8"?>
<we:webextension xmlns:we="http://schemas.microsoft.com/office/webextensions/webextension/2010/11" id="{c23d723c-37d9-41b3-aa0d-c9f91bbe4960}">
  <we:reference id="WA200003233" version="2.0.0.3" store="en-IN" storeType="OMEX"/>
  <we:alternateReferences/>
  <we:properties>
    <we:property name="Microsoft.Office.CampaignId" value="&quot;none&quot;"/>
    <we:property name="reportUrl" value="&quot;/groups/me/reports/143a10e1-f873-43fa-858f-62fb00a22408/ReportSection1640d180a3e343307894?bookmarkGuid=2859ca5f-652d-4612-b8d9-3a93213fa8f3&amp;bookmarkUsage=1&amp;ctid=df8679cd-a80e-45d8-99ac-c83ed7ff95a0&amp;fromEntryPoint=export&quot;"/>
    <we:property name="reportState" value="&quot;CONNECTED&quot;"/>
    <we:property name="reportEmbeddedTime" value="&quot;2023-04-20T15:00:05.810Z&quot;"/>
    <we:property name="creatorSessionId" value="&quot;6ec7760e-657e-452a-858c-9bb2ccb3273f&quot;"/>
    <we:property name="creatorUserId" value="&quot;100320026AA0D56B&quot;"/>
    <we:property name="creatorTenantId" value="&quot;df8679cd-a80e-45d8-99ac-c83ed7ff95a0&quot;"/>
    <we:property name="reportName" value="&quot;Adidas US Sales Data Analysis4&quot;"/>
    <we:property name="isFiltersActionButtonVisible" value="true"/>
    <we:property name="initialStateBookmark" value="&quot;H4sIAAAAAAAAA9VYTW/cNhD9K4JOLbAo+CFKom9rx72kTgw7zaUwgiE5UpRopQVFbe0a+987lDZ17LpxkYWDNWDA4pB68+bNDEntbeqaYd3CzRtYYXqUHvf95xX4zwlPF2m3s719+/psefH6w5vl2SmZ+3Vo+m5Ij27TAL7G8L4ZRmgjAhn/uFqk0LbnUMdRBe2Ai3SNfug7aJu/cF5MU8GPuF2keL1uew8R8jJAwAi7oeU0Jt/8F0kewYZmg5dow2y9wHXvw27M84w5XjKQKDMpWVHqjN4Z5tmJ5tPro9OJ2EnfBWg6IhBtRaFBlGjBlipTqkTQRbQPTVe3u1Du3n13s456weTmeAyByJJc5hM5jnDbLcVbSkRtjOUSC8gks47xJyEDXgfTX/8bDYxDh1ILo6w2FdOonkb7NkFplWCcAWdKZxWXTAGLEFXThp0s5ub0eu0p11QBM+QJZa7ufWPJ3ZRTj8Ocwtv0pG/H1fR0es9+2Y/e4gVW01QXmnBDSK8gQHIJLQ7J0jUOhuQn8XMaiZ37nupoWnSBdQSJ1o/9nyceyb1Lj9h28Q+jpdtAZ8n6kM4ZwjB6/L98lm2brOZXhoc04txE9REmV2T5ZhZc343h5CP4cD8HNPAO/fHNpO+rxn8pe7F4QPiZItlefek4WvDpqzbaJXkm9pxZvZoLkaG00jhnuGAmt85htm9tUxdTr6DIXV5hZp3J3Z6QFg3XGZeFAYHaydypcl9IJQ2vbC5doW0prGZa7glZVYUC6ypX8VIpVMzMTb0HpKHtS9EmRpupKErFnHD7Bq4UQVaulExqLnJBpPmTW88PafRNnaxpd8OELMnYNeF7Ot6Cd4fQ648FE3uOKk8DMG1KwayiP1GhkweRgAvcYDfiC1b9LoJZamYyK1CWdNRKUXBhaA85CKn3OtQOROz7x1mc5IVVRVkUDIoiy0SuVGYOQm56rJqQnNFNunnsRvNSJH8Yxyy7zmwplaukrFy8pTLEw5D9XR+gTeKQPj26Opnpv2D9/zOgOREVHfocK57lOUibl0AfPt+fiGVde6wh7Ib3uT/DzfB3OqSG5LJv3TTz69jtFGU/OGGHFPgusTy3JhNSoi6ksZprFHtew/JKoNCcCkVZzowVosz3gpxQ7yzpCn09FX0/hmENFs+hw0n79Rx6g9M6KjroHLrds4//f2uoXmf/76Edo+vpR4Z0ckKUGtPiEy/Enx7SiVb80tj+DZMWligFEQAA&quot;"/>
    <we:property name="bookmark" value="&quot;H4sIAAAAAAAAA+1abW/bNhD+K4a+dAOcgZQoieq3JE2xYukQJF2GYSiGE3m01cqSIdFZvMD/fUfKzovj2lmyJu7mL4bIOx3vjc8dKV8FumjHJUx/hhEGr4ODuv48guZzjwf9oLo7h5kAwwyLQpbFaSQTjY6rHtuirtrg9VVgoRmgPS/aCZROIE3+/rEfQFmewMCNDJQt9oMxNm1dQVn8hR0zkWwzwVk/wMtxWTfgRJ5ZsOjEXhA7jUkV/kNEK4KyxQWeobLd7CmO68bOx7mRinHUkY4zibHgCab0TttRvZqb+YnJFKWldd1jPj26HDdky9XCJW89UcVhmoYmJX/kKSotuGK0lJ2OHc8haT+om0JBSZOdOCftfGFN2A/eNvXIy52733EeVbawUxoc1/TqG5LyAfIS/0ATJSYWZi8MY70nDGd7ElS6F+VCm4hpE8qMXv/gV2cz8vuvQ2zQiz+sK1103roK3vlfZxK2becTz1JORksUNzqrJ43CUzQ3A6/ojIJ10tQUSq/sbwgNzdGq51BOfORJ6HFBRpP9zmw3TYwhC/mx4/w4o58u4reW+7GgFxo1nB7jBZb31bmm3ycttDmHpugSaK7tWpOu3U2eht4ZlNj29nWhoe19F37vzZwH51pucMfyd9VFXSjsuUh59lsqOqHYu5lw5LlhC4/1g2H952GDxKiD17wfKFBD1G9utmUXn0I7bVtF677zj4f1aEwatZ1NN6OfiorozC1kbEd6QGSflHWrc6EfnBaDoVdhTR7MHONdEHKkgHLDZceFxwfKXwtFNd+PzBiRZToVMcTaYMoMj71zimpQzhHF44Z/6jaEB426OphY6wNY559o/ztxXoFEGgaxRKaUFGHMogTiB6JAFodcqiROpEi0TDIh8myHAjsU2KHAv4MC/avVe+luxvwz874c5VsGnCJhTon3w8Nu6bSvL6BSNLus0HuEdtI8OO/2y7I36l5plxX5UFsoe25IiVcNekQyhV2r1jO7qqO/Rzus9Qq93AZfC84lYfvhEBp7F5lp0GhsDqY+998UzaLlI9A8enZvO1jrWk+a+nSrn5w7e/pwBH10In70GyVPGEQmh4ilhgOGuZbwwGoleBTxjDEQ3FDryiWVz1212lWrXbX6xqvVBgh+3orVYWbvPTSDonpMQdB1NbHbUhGWrXmxQrAU464Y8MyEzGRpyvJUSa5RAX65GLxMch463pdOSkfzir64JqcEp9UEX1yPTdt0S9vcjehhXRk4unwgdPBl6Ph6G8Bt2X4gpGZGiZypUKdZxnOVy23bsU/t6NuS+ovmTgSCETYDnymaNPC2jbsFC+zotfZk9KavrMCvDqAt1KuuBntnrgTi637u+WBYmFREKKVMY5Fxd5Ec7nryXU++68n/xz35KQ6ckG26qLGL7NoShba+M9xY6UYwXm40XuRwMPdkV40gjwXjUZilMZNCcKpN+cYW49tq8hQ0egsOh2uuC31bEEnFRJ7nPMplFGU6jdd8WNqi3v9b8f/9w7ljkLEJOWU/MkwgSzDNwmQr3P4kqNkSl9+2oXN3wjOTyEywJIaMh1TTw81fZC1e2rxeOqX5Kg46znloIKReWKRcpTzdKK0YAR0u7slKVSpUzJgGFUcCUskS9lhZGShpciFCzSRPUqm5XnPTsmvxdy3+rsX/77f4T/lIvD8YNDiAxXb76tdQv1SFbXtnddnd6bydVPNywR5RjXJonnRDv03Gb8u3XZ/iq67M6oltx6DwBCpccXVGaQWVRj1//tL1mf//5fXl2Wz2N/sBpd//KQAA&quot;"/>
    <we:property name="embedUrl" value="&quot;/reportEmbed?reportId=143a10e1-f873-43fa-858f-62fb00a22408&amp;config=eyJjbHVzdGVyVXJsIjoiaHR0cHM6Ly9XQUJJLVVBRS1OT1JUSC1BLVBSSU1BUlktcmVkaXJlY3QuYW5hbHlzaXMud2luZG93cy5uZXQiLCJlbWJlZEZlYXR1cmVzIjp7Im1vZGVybkVtYmVkIjp0cnVlLCJ1c2FnZU1ldHJpY3NWTmV4dCI6dHJ1ZX19&amp;disableSensitivityBanner=true&quot;"/>
    <we:property name="datasetId" value="&quot;427ab67d-8a0f-4a10-a05a-196571d9d001&quot;"/>
    <we:property name="pageName" value="&quot;ReportSection1640d180a3e343307894&quot;"/>
    <we:property name="pageDisplayName" value="&quot;Home&quot;"/>
    <we:property name="backgroundColor" value="&quot;#3A3A3A&quot;"/>
    <we:property name="design" value="{&quot;border&quot;:{&quot;isActive&quot;:true,&quot;color&quot;:&quot;#808080&quot;,&quot;width&quot;:1,&quot;transparency&quot;:0,&quot;dash&quot;:&quot;solid&quot;}}"/>
  </we:properties>
  <we:bindings/>
  <we:snapshot xmlns:r="http://schemas.openxmlformats.org/officeDocument/2006/relationships" r:embed="rId1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401524DC532D42A0E0ED886331A72B" ma:contentTypeVersion="15" ma:contentTypeDescription="Create a new document." ma:contentTypeScope="" ma:versionID="aba17d7263e5a17e1efe42a3571abb41">
  <xsd:schema xmlns:xsd="http://www.w3.org/2001/XMLSchema" xmlns:xs="http://www.w3.org/2001/XMLSchema" xmlns:p="http://schemas.microsoft.com/office/2006/metadata/properties" xmlns:ns2="f577acbf-5b0b-4b4f-9948-268e97f8d3a4" xmlns:ns3="b1e4d6ee-9f6f-43f8-a618-24f3d84da28f" targetNamespace="http://schemas.microsoft.com/office/2006/metadata/properties" ma:root="true" ma:fieldsID="e4e3c9c8ed1c3d723d02c9f1cb24d19a" ns2:_="" ns3:_="">
    <xsd:import namespace="f577acbf-5b0b-4b4f-9948-268e97f8d3a4"/>
    <xsd:import namespace="b1e4d6ee-9f6f-43f8-a618-24f3d84da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2:Document_x0020_Purpose" minOccurs="0"/>
                <xsd:element ref="ns2:Initiative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  <xsd:element ref="ns2:MediaServiceEventHashCode" minOccurs="0"/>
                <xsd:element ref="ns2:MediaServiceGenerationTim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77acbf-5b0b-4b4f-9948-268e97f8d3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ocument_x0020_Purpose" ma:index="14" nillable="true" ma:displayName="Document Purpose" ma:default="Informational" ma:format="Dropdown" ma:internalName="Document_x0020_Purpose">
      <xsd:simpleType>
        <xsd:restriction base="dms:Choice">
          <xsd:enumeration value="Informational"/>
          <xsd:enumeration value="Feature Spec"/>
          <xsd:enumeration value="Engineering Design"/>
          <xsd:enumeration value="Planning"/>
        </xsd:restriction>
      </xsd:simpleType>
    </xsd:element>
    <xsd:element name="Initiatives" ma:index="15" nillable="true" ma:displayName="Initiatives" ma:description="List of initiatives related to this document" ma:internalName="Initiativ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dd-in MAU"/>
                    <xsd:enumeration value="Custom Functions"/>
                    <xsd:enumeration value="Data &amp; Analytics"/>
                    <xsd:enumeration value="DevEx: Portals &amp; Programs"/>
                    <xsd:enumeration value="DevEx: Tools &amp; Libraries"/>
                    <xsd:enumeration value="Engineering"/>
                    <xsd:enumeration value="Excel API"/>
                    <xsd:enumeration value="In-Market Support"/>
                    <xsd:enumeration value="Maker Access"/>
                    <xsd:enumeration value="SDX Runtime &amp; Partners"/>
                    <xsd:enumeration value="SDX Service Delivery"/>
                    <xsd:enumeration value="SDX API &amp; Pipeline"/>
                    <xsd:enumeration value="Shield &amp; OCE"/>
                  </xsd:restriction>
                </xsd:simpleType>
              </xsd:element>
            </xsd:sequence>
          </xsd:extension>
        </xsd:complexContent>
      </xsd:complex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  <xsd:element name="MediaServiceOCR" ma:index="18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MediaServiceLocation" ma:internalName="MediaServiceLocation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e4d6ee-9f6f-43f8-a618-24f3d84da28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3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ument_x0020_Purpose xmlns="f577acbf-5b0b-4b4f-9948-268e97f8d3a4">Informational</Document_x0020_Purpose>
    <Initiatives xmlns="f577acbf-5b0b-4b4f-9948-268e97f8d3a4"/>
  </documentManagement>
</p:properties>
</file>

<file path=customXml/itemProps1.xml><?xml version="1.0" encoding="utf-8"?>
<ds:datastoreItem xmlns:ds="http://schemas.openxmlformats.org/officeDocument/2006/customXml" ds:itemID="{1DD29C39-1C4E-4B06-A1F4-2510F2DACF6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77acbf-5b0b-4b4f-9948-268e97f8d3a4"/>
    <ds:schemaRef ds:uri="b1e4d6ee-9f6f-43f8-a618-24f3d84da2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21AFCC0-734A-4A90-A597-A1CB34860DC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17AB1FA-2F28-4684-9230-02ACEB6C0B0A}">
  <ds:schemaRefs>
    <ds:schemaRef ds:uri="http://purl.org/dc/elements/1.1/"/>
    <ds:schemaRef ds:uri="http://schemas.microsoft.com/office/2006/metadata/properties"/>
    <ds:schemaRef ds:uri="b1e4d6ee-9f6f-43f8-a618-24f3d84da28f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f577acbf-5b0b-4b4f-9948-268e97f8d3a4"/>
    <ds:schemaRef ds:uri="http://purl.org/dc/dcmitype/"/>
    <ds:schemaRef ds:uri="http://schemas.microsoft.com/office/infopath/2007/PartnerControl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1535</TotalTime>
  <Words>163</Words>
  <Application>Microsoft Office PowerPoint</Application>
  <PresentationFormat>Widescreen</PresentationFormat>
  <Paragraphs>24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Arial</vt:lpstr>
      <vt:lpstr>Bahnschrift Light</vt:lpstr>
      <vt:lpstr>Calibri</vt:lpstr>
      <vt:lpstr>Calibri Light</vt:lpstr>
      <vt:lpstr>Segoe UI Black</vt:lpstr>
      <vt:lpstr>Office Theme</vt:lpstr>
      <vt:lpstr>   Adidas Sales Data Analysis Report</vt:lpstr>
      <vt:lpstr>Adidas Sales Data Analysis Report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</dc:creator>
  <cp:lastModifiedBy>Dnyaneshwar Ghodse</cp:lastModifiedBy>
  <cp:revision>5</cp:revision>
  <dcterms:created xsi:type="dcterms:W3CDTF">2018-06-07T21:39:02Z</dcterms:created>
  <dcterms:modified xsi:type="dcterms:W3CDTF">2023-04-21T09:26:43Z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0x010100CD401524DC532D42A0E0ED886331A72B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iteId">
    <vt:lpwstr>72f988bf-86f1-41af-91ab-2d7cd011db47</vt:lpwstr>
  </property>
  <property fmtid="{D5CDD505-2E9C-101B-9397-08002B2CF9AE}" pid="5" name="MSIP_Label_f42aa342-8706-4288-bd11-ebb85995028c_Owner">
    <vt:lpwstr>t-dahop@microsoft.com</vt:lpwstr>
  </property>
  <property fmtid="{D5CDD505-2E9C-101B-9397-08002B2CF9AE}" pid="6" name="MSIP_Label_f42aa342-8706-4288-bd11-ebb85995028c_SetDate">
    <vt:lpwstr>2018-06-18T13:45:27.3782680Z</vt:lpwstr>
  </property>
  <property fmtid="{D5CDD505-2E9C-101B-9397-08002B2CF9AE}" pid="7" name="MSIP_Label_f42aa342-8706-4288-bd11-ebb85995028c_Name">
    <vt:lpwstr>General</vt:lpwstr>
  </property>
  <property fmtid="{D5CDD505-2E9C-101B-9397-08002B2CF9AE}" pid="8" name="MSIP_Label_f42aa342-8706-4288-bd11-ebb85995028c_Application">
    <vt:lpwstr>Microsoft Azure Information Protection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